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0D"/>
            </a:gs>
            <a:gs pos="100000">
              <a:srgbClr val="00332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4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3931920" cy="548640"/>
          </a:xfrm>
          <a:prstGeom prst="roundRect">
            <a:avLst/>
          </a:prstGeom>
          <a:solidFill>
            <a:srgbClr val="00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417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9B"/>
                </a:solidFill>
                <a:latin typeface="Calibri"/>
              </a:defRPr>
            </a:pPr>
            <a:r>
              <a:t>ENACTUS IIT BOMBAY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pace Grotesk"/>
              </a:defRPr>
            </a:pPr>
            <a:r>
              <a:t>SUSPAK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EC99B"/>
                </a:solidFill>
                <a:latin typeface="Calibri"/>
              </a:defRPr>
            </a:pPr>
            <a:r>
              <a:t>PIONEERING A FUTURE WHERE PACKAGING HEALS THE PLANET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Biodegradable food packaging solutions made from sugarcane bagasse &amp; wood pulp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pace Grotes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FFDD"/>
                </a:solidFill>
                <a:latin typeface="Calibri"/>
              </a:defRPr>
            </a:pPr>
            <a:r>
              <a:t>Single-use plastic dominates food packaging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474720" cy="137160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9B"/>
                </a:solidFill>
                <a:latin typeface="Space Grotesk"/>
              </a:defRPr>
            </a:pPr>
            <a:r>
              <a:t>$220 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FFDD"/>
                </a:solidFill>
                <a:latin typeface="Calibri"/>
              </a:defRPr>
            </a:pPr>
            <a:r>
              <a:t>Global plastic food</a:t>
            </a:r>
            <a:br/>
            <a:r>
              <a:t>packaging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743200"/>
            <a:ext cx="3474720" cy="137160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834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9B"/>
                </a:solidFill>
                <a:latin typeface="Space Grotesk"/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FFDD"/>
                </a:solidFill>
                <a:latin typeface="Calibri"/>
              </a:defRPr>
            </a:pPr>
            <a:r>
              <a:t>Of global food packaging</a:t>
            </a:r>
            <a:br/>
            <a:r>
              <a:t>is plastic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43200"/>
            <a:ext cx="3474720" cy="137160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9B"/>
                </a:solidFill>
                <a:latin typeface="Space Grotesk"/>
              </a:defRPr>
            </a:pPr>
            <a:r>
              <a:t>30-90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FFDD"/>
                </a:solidFill>
                <a:latin typeface="Calibri"/>
              </a:defRPr>
            </a:pPr>
            <a:r>
              <a:t>Decomposition time</a:t>
            </a:r>
            <a:br/>
            <a:r>
              <a:t>for our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2651760" cy="109728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3F"/>
                </a:solidFill>
                <a:latin typeface="Calibri"/>
              </a:defRPr>
            </a:pPr>
            <a:r>
              <a:t>Damages Harvest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Plastic pollution damages crops and soil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389120"/>
            <a:ext cx="2651760" cy="109728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3F"/>
                </a:solidFill>
                <a:latin typeface="Calibri"/>
              </a:defRPr>
            </a:pPr>
            <a:r>
              <a:t>Soil Degradation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Microplastics destroy soil microbial health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2651760" cy="109728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3F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Energy-intensive plastic 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389120"/>
            <a:ext cx="2651760" cy="109728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3F"/>
                </a:solidFill>
                <a:latin typeface="Calibri"/>
              </a:defRPr>
            </a:pPr>
            <a:r>
              <a:t>Health Hazards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Chemical leaching into food 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3474720" cy="82296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REGULATIONS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89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FFDD"/>
                </a:solidFill>
                <a:latin typeface="Calibri"/>
              </a:defRPr>
            </a:pPr>
            <a:r>
              <a:t>Extended Producer Responsibility mandates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5669280"/>
            <a:ext cx="3474720" cy="82296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AWARENESS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989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FFDD"/>
                </a:solidFill>
                <a:latin typeface="Calibri"/>
              </a:defRPr>
            </a:pPr>
            <a:r>
              <a:t>66% consumers care about sustainability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669280"/>
            <a:ext cx="3474720" cy="82296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COMMITMENTS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989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FFDD"/>
                </a:solidFill>
                <a:latin typeface="Calibri"/>
              </a:defRPr>
            </a:pPr>
            <a:r>
              <a:t>100% sustainable packaging by 2030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9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INDUSTRY LANDSCAPE</a:t>
            </a:r>
          </a:p>
        </p:txBody>
      </p:sp>
      <p:sp>
        <p:nvSpPr>
          <p:cNvPr id="4" name="Oval 3"/>
          <p:cNvSpPr/>
          <p:nvPr/>
        </p:nvSpPr>
        <p:spPr>
          <a:xfrm>
            <a:off x="2011680" y="2011680"/>
            <a:ext cx="3657600" cy="3657600"/>
          </a:xfrm>
          <a:prstGeom prst="ellipse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1737360"/>
            <a:ext cx="2743200" cy="2743200"/>
          </a:xfrm>
          <a:prstGeom prst="ellipse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463040"/>
            <a:ext cx="1828800" cy="182880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FDD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$38.27M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MARKET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68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✓  TAM: Global Food Packaging - $400.9B</a:t>
            </a:r>
          </a:p>
          <a:p>
            <a:pPr>
              <a:spcBef>
                <a:spcPts val="10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✓  SAM: Indian Food Packaging - $38.27B</a:t>
            </a:r>
          </a:p>
          <a:p>
            <a:pPr>
              <a:spcBef>
                <a:spcPts val="10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✓  SOM: 0.1% penetration = $38.27M</a:t>
            </a:r>
          </a:p>
          <a:p>
            <a:pPr>
              <a:spcBef>
                <a:spcPts val="10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✓  First Customer: Mirchi &amp; Mime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COST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468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Traditional Plastic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697480"/>
            <a:ext cx="640080" cy="27432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697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1.0x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63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Molded Fiber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291840"/>
            <a:ext cx="896111" cy="274320"/>
          </a:xfrm>
          <a:prstGeom prst="roundRect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896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1.4x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6576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Seaweed-based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886200"/>
            <a:ext cx="1664207" cy="27432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886200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2.6x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519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Polylactic Acid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480560"/>
            <a:ext cx="2176272" cy="27432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4805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3.4x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3-Compartment Biodegradable Tray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Sugarcane bagasse with wood pulp reinforcement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tray image here]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Round Partitioned 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Natural fiber composition, fully compostable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74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plate image here]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4297680"/>
            <a:ext cx="548640" cy="5486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B3F"/>
                </a:solidFill>
                <a:latin typeface="Calibri"/>
              </a:defRPr>
            </a:pPr>
            <a:r>
              <a:t>COMPOSTABLE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Decomposes in 30-90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39" y="420624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54679" y="4297680"/>
            <a:ext cx="548640" cy="5486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B3F"/>
                </a:solidFill>
                <a:latin typeface="Calibri"/>
              </a:defRPr>
            </a:pPr>
            <a:r>
              <a:t>PEELABLE PLA LINER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Removable for industrial composting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0624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199" y="4297680"/>
            <a:ext cx="548640" cy="5486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199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B3F"/>
                </a:solidFill>
                <a:latin typeface="Calibri"/>
              </a:defRPr>
            </a:pPr>
            <a:r>
              <a:t>HEAT RESISTANT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Withstands up to 150°C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20624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03719" y="4297680"/>
            <a:ext cx="548640" cy="5486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19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B3F"/>
                </a:solidFill>
                <a:latin typeface="Calibri"/>
              </a:defRPr>
            </a:pPr>
            <a:r>
              <a:t>LIGHTWEIGHT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Wood pulp ensures durability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20624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0" y="4297680"/>
            <a:ext cx="548640" cy="5486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B3F"/>
                </a:solidFill>
                <a:latin typeface="Calibri"/>
              </a:defRPr>
            </a:pPr>
            <a:r>
              <a:t>WATER RESISTANT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Suitable for wet foods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4206240"/>
            <a:ext cx="1737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52760" y="4297680"/>
            <a:ext cx="548640" cy="54864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527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B3F"/>
                </a:solidFill>
                <a:latin typeface="Calibri"/>
              </a:defRPr>
            </a:pPr>
            <a:r>
              <a:t>COST-COMPETITIVE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5303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1.3x-1.5x price of plastic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EXPLORING COATING MATERIALS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POLYLACTIC ACID (PLA)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Thermoplastic biopolymer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Water-resistant surface layer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Industrial composting compatible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Continuous film 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4572000" cy="1371600"/>
          </a:xfrm>
          <a:prstGeom prst="roundRect">
            <a:avLst/>
          </a:prstGeom>
          <a:solidFill>
            <a:srgbClr val="004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FFCC"/>
                </a:solidFill>
                <a:latin typeface="Calibri"/>
              </a:defRPr>
            </a:pPr>
            <a:r>
              <a:t>[Insert PLA pellets image here]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SEAWEED-BASED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Natural polysaccharide coating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Edible &amp; biodegradable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Antimicrobial properties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 Renewable ocean resource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754880"/>
            <a:ext cx="4572000" cy="137160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1206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FFDD"/>
                </a:solidFill>
                <a:latin typeface="Calibri"/>
              </a:defRPr>
            </a:pPr>
            <a:r>
              <a:t>[Insert seaweed image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PLA COATING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Extrusion Coating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PLA process diagram here]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PLA Pellets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PLA pellets image here]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206240"/>
            <a:ext cx="1097280" cy="109728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Industrial dryer</a:t>
            </a:r>
            <a:br/>
            <a:r>
              <a:t>softens PLA pellets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C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4206240"/>
            <a:ext cx="1097280" cy="109728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Manual transfer</a:t>
            </a:r>
            <a:br/>
            <a:r>
              <a:t>onto bagasse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C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206240"/>
            <a:ext cx="1097280" cy="109728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Hot plate applies</a:t>
            </a:r>
            <a:br/>
            <a:r>
              <a:t>pressure &amp; heat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C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4206240"/>
            <a:ext cx="1097280" cy="109728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Protective layer</a:t>
            </a:r>
            <a:br/>
            <a:r>
              <a:t>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035040"/>
            <a:ext cx="5303520" cy="64008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6B3F"/>
                </a:solidFill>
                <a:latin typeface="Calibri"/>
              </a:defRPr>
            </a:pPr>
            <a:r>
              <a:t>WHY PLA? → Thermoplastic nature enables heat-based application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6035040"/>
            <a:ext cx="5303520" cy="64008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IMPROVISED SETUP → Hot plate with manual pressure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9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PLA: CHALLENGES &amp;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UNEVEN SPREADING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Limited temperature uniformity resulted in incomplete contact between PLA and bagasse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931920"/>
            <a:ext cx="1828800" cy="365760"/>
          </a:xfrm>
          <a:prstGeom prst="roundRect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Temperature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47472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THERMAL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Difference in thermal behaviour between polymer and substrate caused coating inconsistency.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79" y="3931920"/>
            <a:ext cx="1828800" cy="365760"/>
          </a:xfrm>
          <a:prstGeom prst="roundRect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Material Compatibility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347472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KEY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Controlled hot-pressing would significantly improve results with proper process control.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931920"/>
            <a:ext cx="1828800" cy="365760"/>
          </a:xfrm>
          <a:prstGeom prst="roundRect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Equipment Needs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pace Grotesk"/>
              </a:defRPr>
            </a:pPr>
            <a:r>
              <a:t>WHAT WE LEARNED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6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FFDD"/>
                </a:solidFill>
                <a:latin typeface="Calibri"/>
              </a:defRPr>
            </a:pPr>
            <a:r>
              <a:t>The experiment demonstrated limitations without appropriate equipment, giving practical insight into thermoplastic polymer processing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SEAWEED COATING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Seaweed Coating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seaweed process diagram here]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B3F"/>
                </a:solidFill>
                <a:latin typeface="Space Grotesk"/>
              </a:defRPr>
            </a:pPr>
            <a:r>
              <a:t>Seaweed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seaweed types image here]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206240"/>
            <a:ext cx="1097280" cy="1097280"/>
          </a:xfrm>
          <a:prstGeom prst="ellipse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Seaweed pellets</a:t>
            </a:r>
            <a:br/>
            <a:r>
              <a:t>dissolved in 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C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4206240"/>
            <a:ext cx="1097280" cy="1097280"/>
          </a:xfrm>
          <a:prstGeom prst="ellipse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Bagasse plates</a:t>
            </a:r>
            <a:br/>
            <a:r>
              <a:t>immersed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C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206240"/>
            <a:ext cx="1097280" cy="1097280"/>
          </a:xfrm>
          <a:prstGeom prst="ellipse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Ambient laboratory</a:t>
            </a:r>
            <a:br/>
            <a:r>
              <a:t>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C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4206240"/>
            <a:ext cx="1097280" cy="1097280"/>
          </a:xfrm>
          <a:prstGeom prst="ellipse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pace Grotesk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Surface coverage</a:t>
            </a:r>
            <a:br/>
            <a:r>
              <a:t>assessment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035040"/>
            <a:ext cx="5303520" cy="64008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WHY SEAWEED? → Naturally abundant, edible, antimicrobial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6035040"/>
            <a:ext cx="5303520" cy="64008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6B3F"/>
                </a:solidFill>
                <a:latin typeface="Calibri"/>
              </a:defRPr>
            </a:pPr>
            <a:r>
              <a:t>DRYING → Ambient conditions, no controlled equipment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SEAWEED: CHALLENGES &amp;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B3F"/>
                </a:solidFill>
                <a:latin typeface="Space Grotesk"/>
              </a:defRPr>
            </a:pPr>
            <a:r>
              <a:t>POOR ADHESION &amp; UNIFORMITY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bagasse plates' rough, porous surface absorbed the coating solution, preventing continuous film formation and causing poor mechanical durability.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303520" cy="3200400"/>
          </a:xfrm>
          <a:prstGeom prst="round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CONTRIBUTING FACTORS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No surface pre-treatment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Uncontrolled coating conditions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Solution concentration not optimized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Viscosity and immersion time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303520" cy="320040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KEY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Depositing material alone is insufficient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Interfacial adhesion is critical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Film formation requires control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 Surface pre-treatment necessary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9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TESTING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108960" cy="146304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canteen test photo]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H12 Canteen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3108960" cy="146304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lab plates photo]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Lab Production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108960" cy="1463040"/>
          </a:xfrm>
          <a:prstGeom prst="round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[Insert SINE logo]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SINE Incubator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698480" cy="25603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EC99B"/>
                </a:solidFill>
                <a:latin typeface="Space Grotesk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FDD"/>
                </a:solidFill>
                <a:latin typeface="Calibri"/>
              </a:defRPr>
            </a:pPr>
            <a:r>
              <a:t>Plastic</a:t>
            </a:r>
            <a:br/>
            <a:r>
              <a:t>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EC99B"/>
                </a:solidFill>
                <a:latin typeface="Space Grotesk"/>
              </a:defRPr>
            </a:pPr>
            <a:r>
              <a:t>30-90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FDD"/>
                </a:solidFill>
                <a:latin typeface="Calibri"/>
              </a:defRPr>
            </a:pPr>
            <a:r>
              <a:t>Days to</a:t>
            </a:r>
            <a:br/>
            <a:r>
              <a:t>Decompose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EC99B"/>
                </a:solidFill>
                <a:latin typeface="Space Grotesk"/>
              </a:defRPr>
            </a:pPr>
            <a:r>
              <a:t>1.3-1.5x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FDD"/>
                </a:solidFill>
                <a:latin typeface="Calibri"/>
              </a:defRPr>
            </a:pPr>
            <a:r>
              <a:t>Cost</a:t>
            </a:r>
            <a:br/>
            <a:r>
              <a:t>Multiplier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EC99B"/>
                </a:solidFill>
                <a:latin typeface="Space Grotesk"/>
              </a:defRPr>
            </a:pPr>
            <a:r>
              <a:t>150°C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FDD"/>
                </a:solidFill>
                <a:latin typeface="Calibri"/>
              </a:defRPr>
            </a:pPr>
            <a:r>
              <a:t>Heat</a:t>
            </a:r>
            <a:br/>
            <a:r>
              <a:t>Resistance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8503920" cy="45720"/>
          </a:xfrm>
          <a:prstGeom prst="rect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920240"/>
            <a:ext cx="914400" cy="914400"/>
          </a:xfrm>
          <a:prstGeom prst="ellipse">
            <a:avLst/>
          </a:prstGeom>
          <a:solidFill>
            <a:srgbClr val="4EC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Lab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Prototyping &amp; formulation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1920240"/>
            <a:ext cx="914400" cy="914400"/>
          </a:xfrm>
          <a:prstGeom prst="ellipse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Pilot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Local vendor partnerships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1920240"/>
            <a:ext cx="914400" cy="91440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6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Commercial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Restaurant partnerships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1920240"/>
            <a:ext cx="914400" cy="914400"/>
          </a:xfrm>
          <a:prstGeom prst="ellipse">
            <a:avLst/>
          </a:prstGeom>
          <a:solidFill>
            <a:srgbClr val="00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B3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Tier 1 &amp; 2 markets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3474720" cy="5486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pace Grotesk"/>
              </a:defRPr>
            </a:pPr>
            <a:r>
              <a:t>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Develop scalable manufacturing for mass 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114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59" y="4114800"/>
            <a:ext cx="3474720" cy="5486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pace Grotesk"/>
              </a:defRPr>
            </a:pPr>
            <a:r>
              <a:t>PARTNERSHIPS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Collaborate with McDonald's, Starbucks &amp; local chains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114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114800"/>
            <a:ext cx="3474720" cy="5486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pace Grotesk"/>
              </a:defRPr>
            </a:pPr>
            <a:r>
              <a:t>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Reduce 1000+ tons of plastic waste annually by Year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0D"/>
            </a:gs>
            <a:gs pos="100000">
              <a:srgbClr val="00332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04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04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pace Grotesk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99B"/>
                </a:solidFill>
                <a:latin typeface="Calibri"/>
              </a:defRPr>
            </a:pPr>
            <a:r>
              <a:t>PIONEERING A FUTURE WHERE PACKAGING HEALS THE PLANET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Enactus IIT Bombay  •  SusPak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Sustainable Packaging for a Better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